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5bda1297234114" /><Relationship Type="http://schemas.openxmlformats.org/officeDocument/2006/relationships/extended-properties" Target="/docProps/app.xml" Id="R2280fa581472440b" /><Relationship Type="http://schemas.openxmlformats.org/officeDocument/2006/relationships/officeDocument" Target="/ppt/presentation.xml" Id="Rd6fb4872961248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f9b0ce5e324232"/>
  </p:sldMasterIdLst>
  <p:notesMasterIdLst>
    <p:notesMasterId xmlns:r="http://schemas.openxmlformats.org/officeDocument/2006/relationships" r:id="R59bad1caf657433e"/>
  </p:notesMasterIdLst>
  <p:sldIdLst>
    <p:sldId xmlns:r="http://schemas.openxmlformats.org/officeDocument/2006/relationships" id="256" r:id="Rf4244df2407e4d46"/>
    <p:sldId xmlns:r="http://schemas.openxmlformats.org/officeDocument/2006/relationships" id="257" r:id="R5099ff3b94324b14"/>
    <p:sldId xmlns:r="http://schemas.openxmlformats.org/officeDocument/2006/relationships" id="258" r:id="Rae7a58615a2d4ec8"/>
    <p:sldId xmlns:r="http://schemas.openxmlformats.org/officeDocument/2006/relationships" id="259" r:id="R042c6b12f4e24bd6"/>
    <p:sldId xmlns:r="http://schemas.openxmlformats.org/officeDocument/2006/relationships" id="260" r:id="R06387413136749b5"/>
    <p:sldId xmlns:r="http://schemas.openxmlformats.org/officeDocument/2006/relationships" id="261" r:id="R9d31835380364428"/>
    <p:sldId xmlns:r="http://schemas.openxmlformats.org/officeDocument/2006/relationships" id="262" r:id="Rbeb85237b46a4b52"/>
    <p:sldId xmlns:r="http://schemas.openxmlformats.org/officeDocument/2006/relationships" id="263" r:id="R129ce222b3464e92"/>
    <p:sldId xmlns:r="http://schemas.openxmlformats.org/officeDocument/2006/relationships" id="264" r:id="Ra15357e15fbd4faa"/>
    <p:sldId xmlns:r="http://schemas.openxmlformats.org/officeDocument/2006/relationships" id="265" r:id="R24bc65fb3aac49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43e837d1d84f1e" /><Relationship Type="http://schemas.openxmlformats.org/officeDocument/2006/relationships/slideMaster" Target="/ppt/slideMasters/slideMaster1.xml" Id="R5ff9b0ce5e324232" /><Relationship Type="http://schemas.openxmlformats.org/officeDocument/2006/relationships/notesMaster" Target="/ppt/notesMasters/notesMaster1.xml" Id="R59bad1caf657433e" /><Relationship Type="http://schemas.openxmlformats.org/officeDocument/2006/relationships/presProps" Target="/ppt/presProps.xml" Id="R360f5a46958549b4" /><Relationship Type="http://schemas.openxmlformats.org/officeDocument/2006/relationships/tableStyles" Target="/ppt/tableStyles.xml" Id="R1781633c555e456b" /><Relationship Type="http://schemas.openxmlformats.org/officeDocument/2006/relationships/slide" Target="/ppt/slides/slide1.xml" Id="Rf4244df2407e4d46" /><Relationship Type="http://schemas.openxmlformats.org/officeDocument/2006/relationships/slide" Target="/ppt/slides/slide2.xml" Id="R5099ff3b94324b14" /><Relationship Type="http://schemas.openxmlformats.org/officeDocument/2006/relationships/slide" Target="/ppt/slides/slide3.xml" Id="Rae7a58615a2d4ec8" /><Relationship Type="http://schemas.openxmlformats.org/officeDocument/2006/relationships/slide" Target="/ppt/slides/slide4.xml" Id="R042c6b12f4e24bd6" /><Relationship Type="http://schemas.openxmlformats.org/officeDocument/2006/relationships/slide" Target="/ppt/slides/slide5.xml" Id="R06387413136749b5" /><Relationship Type="http://schemas.openxmlformats.org/officeDocument/2006/relationships/slide" Target="/ppt/slides/slide6.xml" Id="R9d31835380364428" /><Relationship Type="http://schemas.openxmlformats.org/officeDocument/2006/relationships/slide" Target="/ppt/slides/slide7.xml" Id="Rbeb85237b46a4b52" /><Relationship Type="http://schemas.openxmlformats.org/officeDocument/2006/relationships/slide" Target="/ppt/slides/slide8.xml" Id="R129ce222b3464e92" /><Relationship Type="http://schemas.openxmlformats.org/officeDocument/2006/relationships/slide" Target="/ppt/slides/slide9.xml" Id="Ra15357e15fbd4faa" /><Relationship Type="http://schemas.openxmlformats.org/officeDocument/2006/relationships/slide" Target="/ppt/slides/slide10.xml" Id="R24bc65fb3aac49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b87283f8e443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cd4992019d4514" /><Relationship Type="http://schemas.openxmlformats.org/officeDocument/2006/relationships/notesMaster" Target="/ppt/notesMasters/notesMaster1.xml" Id="Rce4869cbef0f46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f852ae6578426b" /><Relationship Type="http://schemas.openxmlformats.org/officeDocument/2006/relationships/notesMaster" Target="/ppt/notesMasters/notesMaster1.xml" Id="Rf98c8674ac5e47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a7404017f84d53" /><Relationship Type="http://schemas.openxmlformats.org/officeDocument/2006/relationships/notesMaster" Target="/ppt/notesMasters/notesMaster1.xml" Id="R2e7f6e6477c443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616700c26a4b04" /><Relationship Type="http://schemas.openxmlformats.org/officeDocument/2006/relationships/notesMaster" Target="/ppt/notesMasters/notesMaster1.xml" Id="R7c12d72d553e4b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394f56c90340f5" /><Relationship Type="http://schemas.openxmlformats.org/officeDocument/2006/relationships/notesMaster" Target="/ppt/notesMasters/notesMaster1.xml" Id="R8119b7c92ebb46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8e7b805adb4d8f" /><Relationship Type="http://schemas.openxmlformats.org/officeDocument/2006/relationships/notesMaster" Target="/ppt/notesMasters/notesMaster1.xml" Id="R36f6cfffa80941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1f251a0104457d" /><Relationship Type="http://schemas.openxmlformats.org/officeDocument/2006/relationships/notesMaster" Target="/ppt/notesMasters/notesMaster1.xml" Id="R71975acec70b45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9409c083b34e13" /><Relationship Type="http://schemas.openxmlformats.org/officeDocument/2006/relationships/notesMaster" Target="/ppt/notesMasters/notesMaster1.xml" Id="R6dd24f4a843047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723f54eb9d4219" /><Relationship Type="http://schemas.openxmlformats.org/officeDocument/2006/relationships/notesMaster" Target="/ppt/notesMasters/notesMaster1.xml" Id="Rf6ddd675282045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272cc7dff54604" /><Relationship Type="http://schemas.openxmlformats.org/officeDocument/2006/relationships/notesMaster" Target="/ppt/notesMasters/notesMaster1.xml" Id="R7849e38210fc4b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40 秒。</a:t>
            </a:r>
          </a:p>
          <a:p xmlns:a="http://schemas.openxmlformats.org/drawingml/2006/main">
            <a:r>
              <a:t>介绍研究问题：固定 Pi、模型、任务条件，只通过公开配置搜索成功率与成本的权衡。当前是工程进度稿，尚未有正式优化优劣结论。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来源：docs/research_report_draft.md, sections 1–2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</a:t>
            </a:r>
          </a:p>
          <a:p xmlns:a="http://schemas.openxmlformats.org/drawingml/2006/main">
            <a:r>
              <a:t>说明三个配置均来自公开接口。reserve 是从上下文窗口中减去的阈值参数，较大值更早触发压缩。27 个离散组合含原生默认。模型元数据来自既有运行记录，正式派发前须刷新。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来源：configs/hpo_space.live-v2.json; docs/sources/source_lock.json; runtime/openrouter-model.json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80 秒。</a:t>
            </a:r>
          </a:p>
          <a:p xmlns:a="http://schemas.openxmlformats.org/drawingml/2006/main">
            <a:r>
              <a:t>解释七点初始化：默认、三个单参数扰动、三个双参数扰动均计入预算。对相同任务和背景计算四角差分，缺角保持不可识别。当前十配置只保留一轮 pair/single/global。低证据时回退均匀选择。SMAC 随机森林同样可表达交互，不主张首创交互估计。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来源：hpo/interaction_search.py; docs/phase4_interaction_aware_hpo_design.md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70 秒。</a:t>
            </a:r>
          </a:p>
          <a:p xmlns:a="http://schemas.openxmlformats.org/drawingml/2006/main">
            <a:r>
              <a:t>Default 单配置，三个搜索方法各十配置，每配置同样八验证任务。全部四个赢家冻结后独立测试八题，固定分母。$60 额度已有授权，六人分工执行方案正在单独准备，在途费用可能超过本地门槛。没有可选 pair-blind，不能孤立归因交互引导收益。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来源：docs/formal_protocol_20261028_v8/README.md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50 秒。</a:t>
            </a:r>
          </a:p>
          <a:p xmlns:a="http://schemas.openxmlformats.org/drawingml/2006/main">
            <a:r>
              <a:t>先区分软件正确性与研究效果。三个种子4116次 mock是合成证据。真实参数机制与默认跨任务校准已有记录。受控超时完整费用来自侧车对账，自动延迟回执的真实完整流程仍未验收。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来源：docs/completion_acceptance_20261028.json; artifacts/release-verification/README.md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</a:t>
            </a:r>
          </a:p>
          <a:p xmlns:a="http://schemas.openxmlformats.org/drawingml/2006/main">
            <a:r>
              <a:t>正式实验结束后用审计过的事件与费用生成阶梯曲线。横轴累计美元，纵轴完成整面板的 incumbent 验证成功率。仅比较共同已观测区间，不外推。此页现在没有真实曲线，也不放 mock 图替代。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来源：evaluation/live_report.py; scripts/plot_live.py; docs/results_completion.md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65 秒。</a:t>
            </a:r>
          </a:p>
          <a:p xmlns:a="http://schemas.openxmlformats.org/drawingml/2006/main">
            <a:r>
              <a:t>所有单元格待实际验证和留出后填写。每个方法都需要各自赢家，在验证完成后统一冻结。固定8题分母；未执行保持未知，不能填零。验证与留出差为百分点，较少样本只支持探索性描述。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来源：evaluation/frozen.py; evaluation/live_report.py; docs/formal_protocol_20261028_v8/README.md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65 秒。</a:t>
            </a:r>
          </a:p>
          <a:p xmlns:a="http://schemas.openxmlformats.org/drawingml/2006/main">
            <a:r>
              <a:t>分别汇报搜索累计成本和冻结配置美元/任务。已有$1.00977450是混合历史原生校准面板，不等于正式Default。敏感性使用观测到且背景匹配的单参数边与双参数局部对照，注明覆盖。无pair-blind不能声称交互引导独立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来源：docs/research_report_draft.md, sections 4–7; evaluation/live_report.py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</a:t>
            </a:r>
          </a:p>
          <a:p xmlns:a="http://schemas.openxmlformats.org/drawingml/2006/main">
            <a:r>
              <a:t>按正式留出配对选择两个方向：调优成功默认失败，及默认成功调优失败。不存在某方向时如实标空。解释来自官方判分与脱敏轨迹，观察不是因果。讨论单种子、八题、供应商随机性、缺失费用停止等限制。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来源：evaluation/live_report.py; docs/results_completion.md; docs/qa.md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50 秒。</a:t>
            </a:r>
          </a:p>
          <a:p xmlns:a="http://schemas.openxmlformats.org/drawingml/2006/main">
            <a:r>
              <a:t>总结已经交付工程、配置、测试、计量与报告生成路径。剩余最后真实自动回执验收要本机凭据；通过后核对正式执行方案，再验证、冻结、留出、生成六类结果与结论。GitHub由用户上传。十分钟后接五分钟问答，实际演练尚需团队进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来源：docs/nonformal_closeout_20261028.md; docs/reproduction_handoff.md; GITHUB_UPLOAD.md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eff20e53e541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6856ca860040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aef07e6d9f475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a3e0e3bbe2416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8e3779c41947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ee0934972647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FEEBA9-C810-4585-A755-9DBC4E1731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B03B140-BC7B-46DB-A795-5CC2788D9D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9B4F37A-1722-4D33-930A-1ECED47396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8ACAAD-CF05-40EC-AAA7-0253051413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33024F3-F1DB-4050-8845-5BC45F9AC9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28B6BD3-4034-4A31-AB3B-6AB222A16A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E7D15E-AC1E-4EDA-9ED0-F187E899CF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03D70D2-4DCA-41F0-B63D-99632327F1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462E8F-9D5D-4AFB-AF62-96D8697653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0812DC-6EA8-47F9-BDAC-4AD389F2F4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505a8cafc747bd" /><Relationship Type="http://schemas.openxmlformats.org/officeDocument/2006/relationships/slideLayout" Target="/ppt/slideLayouts/slideLayout1.xml" Id="Rf62aec1c7b574206" /><Relationship Type="http://schemas.openxmlformats.org/officeDocument/2006/relationships/slideLayout" Target="/ppt/slideLayouts/slideLayout2.xml" Id="Rfae91f4b22f84312" /><Relationship Type="http://schemas.openxmlformats.org/officeDocument/2006/relationships/slideLayout" Target="/ppt/slideLayouts/slideLayout3.xml" Id="R419151b1b41d4358" /><Relationship Type="http://schemas.openxmlformats.org/officeDocument/2006/relationships/slideLayout" Target="/ppt/slideLayouts/slideLayout4.xml" Id="Rbcdda018e7fc4e7f" /><Relationship Type="http://schemas.openxmlformats.org/officeDocument/2006/relationships/slideLayout" Target="/ppt/slideLayouts/slideLayout5.xml" Id="R8c87f22fdf154369" /><Relationship Type="http://schemas.openxmlformats.org/officeDocument/2006/relationships/slideLayout" Target="/ppt/slideLayouts/slideLayout6.xml" Id="R1e59d2483f834c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2aec1c7b574206"/>
    <p:sldLayoutId xmlns:r="http://schemas.openxmlformats.org/officeDocument/2006/relationships" id="2147483650" r:id="Rfae91f4b22f84312"/>
    <p:sldLayoutId xmlns:r="http://schemas.openxmlformats.org/officeDocument/2006/relationships" id="2147483651" r:id="R419151b1b41d4358"/>
    <p:sldLayoutId xmlns:r="http://schemas.openxmlformats.org/officeDocument/2006/relationships" id="2147483652" r:id="Rbcdda018e7fc4e7f"/>
    <p:sldLayoutId xmlns:r="http://schemas.openxmlformats.org/officeDocument/2006/relationships" id="2147483653" r:id="R8c87f22fdf154369"/>
    <p:sldLayoutId xmlns:r="http://schemas.openxmlformats.org/officeDocument/2006/relationships" id="2147483654" r:id="R1e59d2483f834c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1aa4265a4b495d" /><Relationship Type="http://schemas.openxmlformats.org/officeDocument/2006/relationships/notesSlide" Target="/ppt/notesSlides/notesSlide1.xml" Id="Raf4c9e11090344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3721d4ffae4641" /><Relationship Type="http://schemas.openxmlformats.org/officeDocument/2006/relationships/notesSlide" Target="/ppt/notesSlides/notesSlide2.xml" Id="R820d0b22af2d45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f1e1aac4364bef" /><Relationship Type="http://schemas.openxmlformats.org/officeDocument/2006/relationships/notesSlide" Target="/ppt/notesSlides/notesSlide3.xml" Id="Rf74b77194bfd4e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29a7467faa4a4e" /><Relationship Type="http://schemas.openxmlformats.org/officeDocument/2006/relationships/notesSlide" Target="/ppt/notesSlides/notesSlide4.xml" Id="R00a52ab6a5e746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6b1e88f0974db7" /><Relationship Type="http://schemas.openxmlformats.org/officeDocument/2006/relationships/notesSlide" Target="/ppt/notesSlides/notesSlide5.xml" Id="R08db5f8459b14b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69b744bb414d63" /><Relationship Type="http://schemas.openxmlformats.org/officeDocument/2006/relationships/notesSlide" Target="/ppt/notesSlides/notesSlide6.xml" Id="Rdcb14150c7bb4f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f87144c6ad422c" /><Relationship Type="http://schemas.openxmlformats.org/officeDocument/2006/relationships/notesSlide" Target="/ppt/notesSlides/notesSlide7.xml" Id="R00cd89ae31de4e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9c7e0b8859460c" /><Relationship Type="http://schemas.openxmlformats.org/officeDocument/2006/relationships/notesSlide" Target="/ppt/notesSlides/notesSlide8.xml" Id="Rcbab2c3576ed42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1a7407f51f4b2d" /><Relationship Type="http://schemas.openxmlformats.org/officeDocument/2006/relationships/notesSlide" Target="/ppt/notesSlides/notesSlide9.xml" Id="R35b2c5141abe41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b5af08c5d942ae" /><Relationship Type="http://schemas.openxmlformats.org/officeDocument/2006/relationships/notesSlide" Target="/ppt/notesSlides/notesSlide10.xml" Id="Rd944d4da14cb4f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9DF46-536C-44C4-BA1A-8A391AF4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defPPr>
            <a:lvl1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1pPr>
            <a:lvl2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2pPr>
            <a:lvl3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3pPr>
            <a:lvl4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4pPr>
            <a:lvl5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5pPr>
            <a:lvl6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6pPr>
            <a:lvl7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7pPr>
            <a:lvl8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8pPr>
            <a:lvl9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rPr>
              <a:t>Configuration search for</a:t>
            </a:r>
          </a:p>
          <a:p xmlns:a="http://schemas.openxmlformats.org/drawingml/2006/main">
            <a: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rPr>
              <a:t>a fixed Pi agent harness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6A3BB-1D87-4611-BF1F-B3255B5E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EC860-42F0-4AB1-B0DD-5F88622A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7706C"/>
                </a:solidFill>
                <a:latin typeface="Noto Sans"/>
                <a:ea typeface="Noto Sans"/>
                <a:cs typeface="Noto Sans"/>
              </a:defRPr>
            </a:defPPr>
            <a:lvl1pPr>
              <a:defRPr sz="2400" b="0">
                <a:solidFill>
                  <a:srgbClr val="27706C"/>
                </a:solidFill>
                <a:latin typeface="Noto Sans"/>
                <a:ea typeface="Noto Sans"/>
                <a:cs typeface="Noto Sans"/>
              </a:defRPr>
            </a:lvl1pPr>
            <a:lvl2pPr>
              <a:defRPr sz="2400" b="0">
                <a:solidFill>
                  <a:srgbClr val="27706C"/>
                </a:solidFill>
                <a:latin typeface="Noto Sans"/>
                <a:ea typeface="Noto Sans"/>
                <a:cs typeface="Noto Sans"/>
              </a:defRPr>
            </a:lvl2pPr>
            <a:lvl3pPr>
              <a:defRPr sz="2400" b="0">
                <a:solidFill>
                  <a:srgbClr val="27706C"/>
                </a:solidFill>
                <a:latin typeface="Noto Sans"/>
                <a:ea typeface="Noto Sans"/>
                <a:cs typeface="Noto Sans"/>
              </a:defRPr>
            </a:lvl3pPr>
            <a:lvl4pPr>
              <a:defRPr sz="2400" b="0">
                <a:solidFill>
                  <a:srgbClr val="27706C"/>
                </a:solidFill>
                <a:latin typeface="Noto Sans"/>
                <a:ea typeface="Noto Sans"/>
                <a:cs typeface="Noto Sans"/>
              </a:defRPr>
            </a:lvl4pPr>
            <a:lvl5pPr>
              <a:defRPr sz="2400" b="0">
                <a:solidFill>
                  <a:srgbClr val="27706C"/>
                </a:solidFill>
                <a:latin typeface="Noto Sans"/>
                <a:ea typeface="Noto Sans"/>
                <a:cs typeface="Noto Sans"/>
              </a:defRPr>
            </a:lvl5pPr>
            <a:lvl6pPr>
              <a:defRPr sz="2400" b="0">
                <a:solidFill>
                  <a:srgbClr val="27706C"/>
                </a:solidFill>
                <a:latin typeface="Noto Sans"/>
                <a:ea typeface="Noto Sans"/>
                <a:cs typeface="Noto Sans"/>
              </a:defRPr>
            </a:lvl6pPr>
            <a:lvl7pPr>
              <a:defRPr sz="2400" b="0">
                <a:solidFill>
                  <a:srgbClr val="27706C"/>
                </a:solidFill>
                <a:latin typeface="Noto Sans"/>
                <a:ea typeface="Noto Sans"/>
                <a:cs typeface="Noto Sans"/>
              </a:defRPr>
            </a:lvl7pPr>
            <a:lvl8pPr>
              <a:defRPr sz="2400" b="0">
                <a:solidFill>
                  <a:srgbClr val="27706C"/>
                </a:solidFill>
                <a:latin typeface="Noto Sans"/>
                <a:ea typeface="Noto Sans"/>
                <a:cs typeface="Noto Sans"/>
              </a:defRPr>
            </a:lvl8pPr>
            <a:lvl9pPr>
              <a:defRPr sz="2400" b="0">
                <a:solidFill>
                  <a:srgbClr val="27706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7706C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27706C"/>
                </a:solidFill>
                <a:latin typeface="Noto Sans"/>
                <a:ea typeface="Noto Sans"/>
                <a:cs typeface="Noto Sans"/>
              </a:rPr>
              <a:t>Interaction-Guided Block 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AD42B-2302-4007-9120-BF4F79F1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EP6203  ·  28 October 2026</a:t>
            </a:r>
          </a:p>
          <a:p xmlns:a="http://schemas.openxmlformats.org/drawingml/2006/main">
            <a: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Engineering progress draft</a:t>
            </a:r>
          </a:p>
          <a:p xmlns:a="http://schemas.openxmlformats.org/drawingml/2006/main">
            <a: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Formal study results pending</a:t>
            </a:r>
          </a:p>
        </p:txBody>
      </p:sp>
    </p:spTree>
    <p:extLst>
      <p:ext uri="{BB962C8B-B14F-4D97-AF65-F5344CB8AC3E}">
        <p14:creationId xmlns:p14="http://schemas.microsoft.com/office/powerpoint/2010/main" val="16113968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43A62-6D21-4506-98D1-6DEADB06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defPPr>
            <a:lvl1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1pPr>
            <a:lvl2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2pPr>
            <a:lvl3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3pPr>
            <a:lvl4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4pPr>
            <a:lvl5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5pPr>
            <a:lvl6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6pPr>
            <a:lvl7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7pPr>
            <a:lvl8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8pPr>
            <a:lvl9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rPr>
              <a:t>Fixed system and exposed 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C57BD-8102-49AC-84B9-69A61141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05CCA-AFD8-4629-A646-7006BF205004}"/>
              </a:ext>
            </a:extLst>
          </p:cNvPr>
          <p:cNvGraphicFramePr/>
          <p:nvPr/>
        </p:nvGraphicFramePr>
        <p:xfrm>
          <a:off xmlns:a="http://schemas.openxmlformats.org/drawingml/2006/main" x="723900" y="1809750"/>
          <a:ext xmlns:a="http://schemas.openxmlformats.org/drawingml/2006/main" cx="107442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5048250"/>
                <a:gridCol w="2743200"/>
              </a:tblGrid>
              <a:tr h="714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Parameter</a:t>
                      </a:r>
                    </a:p>
                  </a:txBody>
                  <a:tcPr marL="91440" marR="91440" marT="45720" marB="45720">
                    <a:solidFill>
                      <a:srgbClr val="173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Candidate values</a:t>
                      </a:r>
                    </a:p>
                  </a:txBody>
                  <a:tcPr marL="91440" marR="91440" marT="45720" marB="45720">
                    <a:solidFill>
                      <a:srgbClr val="173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Native default</a:t>
                      </a:r>
                    </a:p>
                  </a:txBody>
                  <a:tcPr marL="91440" marR="91440" marT="45720" marB="45720">
                    <a:solidFill>
                      <a:srgbClr val="173C4E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Thinking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low / medium / high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medium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Reserve tokens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16,384 / 360,000 / 375,000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16,384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Recent tokens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4,000 / 10,000 / 20,000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20,000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253AE-DE97-4A42-B31B-077E5811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2025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2025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2025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2025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2025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2025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2025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2025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2025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27 configurations. Pi source stays fixed.</a:t>
            </a:r>
          </a:p>
          <a:p xmlns:a="http://schemas.openxmlformats.org/drawingml/2006/main">
            <a:pPr>
              <a:defRPr sz="2025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SkillsBench tasks use native dependencies, Skills and verifier.</a:t>
            </a:r>
          </a:p>
        </p:txBody>
      </p:sp>
    </p:spTree>
    <p:extLst>
      <p:ext uri="{BB962C8B-B14F-4D97-AF65-F5344CB8AC3E}">
        <p14:creationId xmlns:p14="http://schemas.microsoft.com/office/powerpoint/2010/main" val="13619782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223D4-CA05-4FD5-AC7A-83240CDC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defPPr>
            <a:lvl1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1pPr>
            <a:lvl2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2pPr>
            <a:lvl3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3pPr>
            <a:lvl4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4pPr>
            <a:lvl5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5pPr>
            <a:lvl6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6pPr>
            <a:lvl7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7pPr>
            <a:lvl8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8pPr>
            <a:lvl9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rPr>
              <a:t>Interaction-Guided Block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07694-5BCE-4B60-8CB7-6D53A25E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A0D73-0646-47D4-AA0A-86B7794A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7 charged screening configurations establish local contrasts.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E8B46-8C1A-4484-A7FB-EF18E15F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Interaction contrast: Y11 − Y10 − Y01 + Y00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4A5B3-DE1C-43EC-B14D-05B0B36D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3 adaptive choices: pair, single, then global.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A68EB-61B9-4DA2-98FE-329D43D4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Insufficient evidence triggers uniform fallback.</a:t>
            </a:r>
          </a:p>
        </p:txBody>
      </p:sp>
    </p:spTree>
    <p:extLst>
      <p:ext uri="{BB962C8B-B14F-4D97-AF65-F5344CB8AC3E}">
        <p14:creationId xmlns:p14="http://schemas.microsoft.com/office/powerpoint/2010/main" val="16301185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1D7B5-8E80-4F0C-AEB3-8E25CE12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defPPr>
            <a:lvl1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1pPr>
            <a:lvl2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2pPr>
            <a:lvl3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3pPr>
            <a:lvl4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4pPr>
            <a:lvl5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5pPr>
            <a:lvl6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6pPr>
            <a:lvl7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7pPr>
            <a:lvl8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8pPr>
            <a:lvl9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rPr>
              <a:t>Predeclared v8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E90E6-AF38-4936-8639-952EB7A6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06F47-2E42-4A23-A2D7-13A18D2AC145}"/>
              </a:ext>
            </a:extLst>
          </p:cNvPr>
          <p:cNvGraphicFramePr/>
          <p:nvPr/>
        </p:nvGraphicFramePr>
        <p:xfrm>
          <a:off xmlns:a="http://schemas.openxmlformats.org/drawingml/2006/main" x="723900" y="1809750"/>
          <a:ext xmlns:a="http://schemas.openxmlformats.org/drawingml/2006/main" cx="107442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2800350"/>
                <a:gridCol w="2800350"/>
              </a:tblGrid>
              <a:tr h="647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73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Task attempts</a:t>
                      </a:r>
                    </a:p>
                  </a:txBody>
                  <a:tcPr marL="91440" marR="91440" marT="45720" marB="45720">
                    <a:solidFill>
                      <a:srgbClr val="173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Proposed USD</a:t>
                      </a:r>
                    </a:p>
                  </a:txBody>
                  <a:tcPr marL="91440" marR="91440" marT="45720" marB="45720">
                    <a:solidFill>
                      <a:srgbClr val="173C4E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Default validation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$3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Random / BO / IGBS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80 each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$16 each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Four frozen winners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32 heldout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$9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280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$60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84207-6C71-4937-A428-52E0E486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744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8 validation tasks and 8 independent heldout tasks.</a:t>
            </a:r>
          </a:p>
          <a:p xmlns:a="http://schemas.openxmlformats.org/drawingml/2006/main">
            <a: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Authorized $60 allocation may stop early. Pair-blind omitted.</a:t>
            </a:r>
          </a:p>
        </p:txBody>
      </p:sp>
    </p:spTree>
    <p:extLst>
      <p:ext uri="{BB962C8B-B14F-4D97-AF65-F5344CB8AC3E}">
        <p14:creationId xmlns:p14="http://schemas.microsoft.com/office/powerpoint/2010/main" val="8439785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EC45B-21B6-431B-8F31-6185C889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defPPr>
            <a:lvl1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1pPr>
            <a:lvl2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2pPr>
            <a:lvl3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3pPr>
            <a:lvl4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4pPr>
            <a:lvl5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5pPr>
            <a:lvl6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6pPr>
            <a:lvl7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7pPr>
            <a:lvl8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8pPr>
            <a:lvl9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rPr>
              <a:t>Engineering evidence available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C343B-1EFD-40D1-8EE2-1215C12B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78774-7D90-4D1D-A657-80AA1DD3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Five implemented methods and 4,116 synthetic attempts.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FE18A-06E7-4C1B-8B98-CD7BC8EF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Real parameter mechanisms and an eight-task calibration.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06591-7286-49CE-8CF9-ED67FC21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Controlled timeout: 3 receipts, $0.03214575, cleanup verified.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9F4DB-3D5C-4272-8099-5D26612C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Real automatic delayed-receipt acceptance remains pending.</a:t>
            </a:r>
          </a:p>
        </p:txBody>
      </p:sp>
    </p:spTree>
    <p:extLst>
      <p:ext uri="{BB962C8B-B14F-4D97-AF65-F5344CB8AC3E}">
        <p14:creationId xmlns:p14="http://schemas.microsoft.com/office/powerpoint/2010/main" val="19771456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A1555-D815-46C9-9150-7F3ADB85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defPPr>
            <a:lvl1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1pPr>
            <a:lvl2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2pPr>
            <a:lvl3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3pPr>
            <a:lvl4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4pPr>
            <a:lvl5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5pPr>
            <a:lvl6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6pPr>
            <a:lvl7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7pPr>
            <a:lvl8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8pPr>
            <a:lvl9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rPr>
              <a:t>Search curves await formal observations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7AB02-A418-4641-A0D9-FF677868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6794D-33B5-436B-8049-13099305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Pending: Random, BO and IGBS incumbent curves.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B3384-6F13-4BED-8CDE-77479F23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X: cumulative accounted search USD.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1A8DA-0D54-4A2D-BC73-29132760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Y: best complete-panel validation pass fraction.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D428D-9BE9-4DCC-89EF-891237B6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Compare only the common observed budget interval.</a:t>
            </a:r>
          </a:p>
        </p:txBody>
      </p:sp>
    </p:spTree>
    <p:extLst>
      <p:ext uri="{BB962C8B-B14F-4D97-AF65-F5344CB8AC3E}">
        <p14:creationId xmlns:p14="http://schemas.microsoft.com/office/powerpoint/2010/main" val="11061232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213F1-8D95-47A0-8C7D-4E9084AF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defPPr>
            <a:lvl1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1pPr>
            <a:lvl2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2pPr>
            <a:lvl3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3pPr>
            <a:lvl4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4pPr>
            <a:lvl5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5pPr>
            <a:lvl6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6pPr>
            <a:lvl7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7pPr>
            <a:lvl8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8pPr>
            <a:lvl9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rPr>
              <a:t>Frozen winners and heldout pass@1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1C26C-F519-484F-91F3-A71F8A92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16AFD-5FE9-4195-9F7A-0659384F500D}"/>
              </a:ext>
            </a:extLst>
          </p:cNvPr>
          <p:cNvGraphicFramePr/>
          <p:nvPr/>
        </p:nvGraphicFramePr>
        <p:xfrm>
          <a:off xmlns:a="http://schemas.openxmlformats.org/drawingml/2006/main" x="723900" y="1809750"/>
          <a:ext xmlns:a="http://schemas.openxmlformats.org/drawingml/2006/main" cx="107442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86050"/>
                <a:gridCol w="2686050"/>
                <a:gridCol w="2686050"/>
                <a:gridCol w="2686050"/>
              </a:tblGrid>
              <a:tr h="647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173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Validation</a:t>
                      </a:r>
                    </a:p>
                  </a:txBody>
                  <a:tcPr marL="91440" marR="91440" marT="45720" marB="45720">
                    <a:solidFill>
                      <a:srgbClr val="173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Heldout pass@1</a:t>
                      </a:r>
                    </a:p>
                  </a:txBody>
                  <a:tcPr marL="91440" marR="91440" marT="45720" marB="45720">
                    <a:solidFill>
                      <a:srgbClr val="173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Gap (pp)</a:t>
                      </a:r>
                    </a:p>
                  </a:txBody>
                  <a:tcPr marL="91440" marR="91440" marT="45720" marB="45720">
                    <a:solidFill>
                      <a:srgbClr val="173C4E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Default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Pending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Pending / 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Pending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Random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Pending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Pending / 8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Pending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SMAC BO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Pending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Pending / 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Pending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IGBS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Pending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Pending / 8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547"/>
                          </a:solidFill>
                          <a:latin typeface="Noto Sans"/>
                          <a:ea typeface="Noto Sans"/>
                          <a:cs typeface="Noto Sans"/>
                        </a:rPr>
                        <a:t>Pending</a:t>
                      </a:r>
                    </a:p>
                  </a:txBody>
                  <a:tcPr marL="91440" marR="91440" marT="45720" marB="45720">
                    <a:solidFill>
                      <a:srgbClr val="E8EEEB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C544C-F7F4-4EC5-B56B-0754B0EA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Unknown results remain unknown. Heldout outcomes never guide search.</a:t>
            </a:r>
          </a:p>
        </p:txBody>
      </p:sp>
    </p:spTree>
    <p:extLst>
      <p:ext uri="{BB962C8B-B14F-4D97-AF65-F5344CB8AC3E}">
        <p14:creationId xmlns:p14="http://schemas.microsoft.com/office/powerpoint/2010/main" val="67569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4A724-B188-494B-AE99-9A02D1EF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defPPr>
            <a:lvl1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1pPr>
            <a:lvl2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2pPr>
            <a:lvl3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3pPr>
            <a:lvl4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4pPr>
            <a:lvl5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5pPr>
            <a:lvl6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6pPr>
            <a:lvl7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7pPr>
            <a:lvl8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8pPr>
            <a:lvl9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rPr>
              <a:t>Costs and parameter sensitivity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6D545-346C-4A58-8396-5E2FC0AE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84D60-614D-43AE-929E-42EDA465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Separate one-time search cost from heldout USD per task.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08B4F-97B8-439B-B3C2-C14F9A9F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Calibration planning panel: $1.00977450 across eight tasks.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8E705-D851-4BEB-8C83-B06E4A1F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Formal cost–performance trade-offs remain unmeasured.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00BA1-0AAE-4BC0-9BE0-BE57C3C7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Sensitivity uses observed matched contrasts and coverage limits.</a:t>
            </a:r>
          </a:p>
        </p:txBody>
      </p:sp>
    </p:spTree>
    <p:extLst>
      <p:ext uri="{BB962C8B-B14F-4D97-AF65-F5344CB8AC3E}">
        <p14:creationId xmlns:p14="http://schemas.microsoft.com/office/powerpoint/2010/main" val="19547257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30E75-3E03-4769-9A89-A2F39BA7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defPPr>
            <a:lvl1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1pPr>
            <a:lvl2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2pPr>
            <a:lvl3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3pPr>
            <a:lvl4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4pPr>
            <a:lvl5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5pPr>
            <a:lvl6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6pPr>
            <a:lvl7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7pPr>
            <a:lvl8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8pPr>
            <a:lvl9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rPr>
              <a:t>Failure cases and evidence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3571A-5C74-438C-B1B9-B6E74170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2A806-0BD7-4FCB-9F48-8B1CF77B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Tuned succeeds, Default fails: pending paired heldout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B9A7B-496C-4193-868F-D3B3958E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Default succeeds, tuned fails: pending paired heldout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D5583-EE1B-4031-8298-9B2CCD66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Use verifier outcomes and reviewed trace excerpts.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21812-8527-4161-BE95-C5DE762E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Small panels and one seed limit generalization claims.</a:t>
            </a:r>
          </a:p>
        </p:txBody>
      </p:sp>
    </p:spTree>
    <p:extLst>
      <p:ext uri="{BB962C8B-B14F-4D97-AF65-F5344CB8AC3E}">
        <p14:creationId xmlns:p14="http://schemas.microsoft.com/office/powerpoint/2010/main" val="18102802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68BB3-F3EB-4E40-A66B-4230D03B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defPPr>
            <a:lvl1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1pPr>
            <a:lvl2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2pPr>
            <a:lvl3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3pPr>
            <a:lvl4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4pPr>
            <a:lvl5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5pPr>
            <a:lvl6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6pPr>
            <a:lvl7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7pPr>
            <a:lvl8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8pPr>
            <a:lvl9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22B3A"/>
                </a:solidFill>
                <a:latin typeface="Noto Sans"/>
                <a:ea typeface="Noto Sans"/>
                <a:cs typeface="Noto Sans"/>
              </a:rPr>
              <a:t>Completion path and 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59841-3F76-4314-82CC-C6F379D6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667780"/>
                </a:solidFill>
                <a:latin typeface="Noto Sans"/>
                <a:ea typeface="Noto Sans"/>
                <a:cs typeface="Noto San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A3E61-CDEC-4327-A3B5-D04F4DF4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Source package includes locks, tests and reproduction commands.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FFC92-D67E-415F-A980-117B3B72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Complete real automatic accounting acceptance before dispatch.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BFBC6-DC11-4237-B49A-1761E4C4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Run validation, freeze winners, then evaluate independent heldout.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80303-97BB-4EF7-B043-C206C45F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13547"/>
                </a:solidFill>
                <a:latin typeface="Noto Sans"/>
                <a:ea typeface="Noto Sans"/>
                <a:cs typeface="Noto Sans"/>
              </a:rPr>
              <a:t>Finalize six result sections and rehearse the ten-minute talk.</a:t>
            </a:r>
          </a:p>
        </p:txBody>
      </p:sp>
    </p:spTree>
    <p:extLst>
      <p:ext uri="{BB962C8B-B14F-4D97-AF65-F5344CB8AC3E}">
        <p14:creationId xmlns:p14="http://schemas.microsoft.com/office/powerpoint/2010/main" val="1121860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2026-10-28T09:56:28.1900000Z</dcterms:created>
  <dcterms:modified xsi:type="dcterms:W3CDTF">2026-10-28T09:56:28.1900000Z</dcterms:modified>
</coreProperties>
</file>